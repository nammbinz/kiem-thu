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Fira Code" panose="020B0809050000020004" pitchFamily="49" charset="0"/>
      <p:regular r:id="rId9"/>
      <p:bold r:id="rId10"/>
    </p:embeddedFont>
    <p:embeddedFont>
      <p:font typeface="Roboto" panose="02000000000000000000" pitchFamily="2" charset="0"/>
      <p:regular r:id="rId11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0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447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58250" y="0"/>
            <a:ext cx="3333750" cy="685800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953125"/>
            <a:ext cx="10668000" cy="1905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1927026"/>
            <a:ext cx="114300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666666"/>
                </a:solidFill>
                <a:latin typeface="Roboto"/>
              </a:rPr>
              <a:t>SELENIUM WEBDRIVER  /  BÁO CÁO CHỨC NĂNG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269926"/>
            <a:ext cx="11301412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>
                <a:solidFill>
                  <a:srgbClr val="1A1A1A"/>
                </a:solidFill>
                <a:latin typeface="Roboto"/>
              </a:rPr>
              <a:t>Tải nội dung động &amp; </a:t>
            </a:r>
            <a:r>
              <a:t>
</a:t>
            </a:r>
            <a:r>
              <a:rPr sz="5400" b="1" i="0" u="none">
                <a:solidFill>
                  <a:srgbClr val="E60000"/>
                </a:solidFill>
                <a:latin typeface="Roboto"/>
              </a:rPr>
              <a:t>Chiến lược chờ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930848"/>
            <a:ext cx="114300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33333"/>
                </a:solidFill>
                <a:latin typeface="Roboto"/>
              </a:rPr>
              <a:t>THE INTERNET  •  /dynamic_loading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702373"/>
            <a:ext cx="9525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66666"/>
                </a:solidFill>
                <a:latin typeface="Roboto"/>
              </a:rPr>
              <a:t>Thiết kế 4 ca kiểm thử tự động bằng Python, Selenium và pytest.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200775"/>
            <a:ext cx="4071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A1A1A"/>
                </a:solidFill>
                <a:latin typeface="Roboto"/>
              </a:rPr>
              <a:t>NHÓM W1   |   TUẦN 7   |   NHÁNH week-07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4EA55D-BADB-FEC7-C1F2-64A218B34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43" y="189904"/>
            <a:ext cx="1800000" cy="510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381125"/>
            <a:ext cx="6972300" cy="3810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2028825"/>
            <a:ext cx="5105400" cy="3889474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324600" y="2028825"/>
            <a:ext cx="5105400" cy="3889474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2028825"/>
            <a:ext cx="76200" cy="3889474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24600" y="2028825"/>
            <a:ext cx="76200" cy="3889474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9151143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A1A1A"/>
                </a:solidFill>
                <a:latin typeface="Roboto"/>
              </a:rPr>
              <a:t>Phạm vi nhiệm vụ theo phân công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2409825"/>
            <a:ext cx="56007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A1A1A"/>
                </a:solidFill>
                <a:latin typeface="Fira Code"/>
              </a:rPr>
              <a:t>/dynamic_loading/1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1800" y="2409825"/>
            <a:ext cx="54102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A1A1A"/>
                </a:solidFill>
                <a:latin typeface="Fira Code"/>
              </a:rPr>
              <a:t>/dynamic_loading/2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038475"/>
            <a:ext cx="43624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33333"/>
                </a:solidFill>
                <a:latin typeface="Roboto"/>
              </a:rPr>
              <a:t>Phần tử ẩn:</a:t>
            </a:r>
            <a:r>
              <a:rPr sz="1800" b="0" i="0" u="none">
                <a:solidFill>
                  <a:srgbClr val="333333"/>
                </a:solidFill>
                <a:latin typeface="Roboto"/>
              </a:rPr>
              <a:t> Đã có trong DOM (display: none).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922216"/>
            <a:ext cx="43624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33333"/>
                </a:solidFill>
                <a:latin typeface="Roboto"/>
              </a:rPr>
              <a:t>Tương tác:</a:t>
            </a:r>
            <a:r>
              <a:rPr sz="1800" b="0" i="0" u="none">
                <a:solidFill>
                  <a:srgbClr val="333333"/>
                </a:solidFill>
                <a:latin typeface="Roboto"/>
              </a:rPr>
              <a:t> Click Start và chờ thanh loading ẩn đi.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4805957"/>
            <a:ext cx="43624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33333"/>
                </a:solidFill>
                <a:latin typeface="Roboto"/>
              </a:rPr>
              <a:t>Kỳ vọng:</a:t>
            </a:r>
            <a:r>
              <a:rPr sz="1800" b="0" i="0" u="none">
                <a:solidFill>
                  <a:srgbClr val="333333"/>
                </a:solidFill>
                <a:latin typeface="Roboto"/>
              </a:rPr>
              <a:t> Chờ đến khi hiển thị text "Hello World!".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3038475"/>
            <a:ext cx="43624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33333"/>
                </a:solidFill>
                <a:latin typeface="Roboto"/>
              </a:rPr>
              <a:t>Render muộn:</a:t>
            </a:r>
            <a:r>
              <a:rPr sz="1800" b="0" i="0" u="none">
                <a:solidFill>
                  <a:srgbClr val="333333"/>
                </a:solidFill>
                <a:latin typeface="Roboto"/>
              </a:rPr>
              <a:t> Được render bằng JS sau khi click.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800" y="3922216"/>
            <a:ext cx="43624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33333"/>
                </a:solidFill>
                <a:latin typeface="Roboto"/>
              </a:rPr>
              <a:t>Tương tác:</a:t>
            </a:r>
            <a:r>
              <a:rPr sz="1800" b="0" i="0" u="none">
                <a:solidFill>
                  <a:srgbClr val="333333"/>
                </a:solidFill>
                <a:latin typeface="Roboto"/>
              </a:rPr>
              <a:t> Click Start, chờ element sinh 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4805957"/>
            <a:ext cx="43624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33333"/>
                </a:solidFill>
                <a:latin typeface="Roboto"/>
              </a:rPr>
              <a:t>Kỳ vọng:</a:t>
            </a:r>
            <a:r>
              <a:rPr sz="1800" b="0" i="0" u="none">
                <a:solidFill>
                  <a:srgbClr val="333333"/>
                </a:solidFill>
                <a:latin typeface="Roboto"/>
              </a:rPr>
              <a:t> Element tồn tại trong DOM và hiển thị.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811547-54B6-519F-EBC7-55BB930B2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558" y="158491"/>
            <a:ext cx="1800000" cy="510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381125"/>
            <a:ext cx="7381875" cy="3810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248150"/>
            <a:ext cx="10668000" cy="771525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2409825"/>
            <a:ext cx="2346870" cy="7239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35709" y="2409825"/>
            <a:ext cx="2346870" cy="7239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09419" y="2409825"/>
            <a:ext cx="2346870" cy="7239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083129" y="2409825"/>
            <a:ext cx="2346870" cy="7239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940" y="2795587"/>
            <a:ext cx="2667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795587"/>
            <a:ext cx="2667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6359" y="2795587"/>
            <a:ext cx="2667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762000"/>
            <a:ext cx="968871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A1A1A"/>
                </a:solidFill>
                <a:latin typeface="Roboto"/>
              </a:rPr>
              <a:t>Kiến trúc kiểm thử và luồng thực thi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71450" y="4476750"/>
            <a:ext cx="125349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33333"/>
                </a:solidFill>
                <a:latin typeface="Roboto"/>
              </a:rPr>
              <a:t>fixture()  →  driver.get()  →  click()  →  </a:t>
            </a:r>
            <a:r>
              <a:rPr sz="1650" b="1" i="0" u="none">
                <a:solidFill>
                  <a:srgbClr val="E60000"/>
                </a:solidFill>
                <a:latin typeface="Roboto"/>
              </a:rPr>
              <a:t>Wait.until()</a:t>
            </a:r>
            <a:r>
              <a:rPr sz="1650" b="0" i="0" u="none">
                <a:solidFill>
                  <a:srgbClr val="333333"/>
                </a:solidFill>
                <a:latin typeface="Roboto"/>
              </a:rPr>
              <a:t>  →  assert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241" y="2638425"/>
            <a:ext cx="247638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Roboto"/>
              </a:rPr>
              <a:t>Python / pytest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641" y="3286125"/>
            <a:ext cx="293358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66666"/>
                </a:solidFill>
                <a:latin typeface="Roboto"/>
              </a:rPr>
              <a:t>Khai báo ca kiểm thử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0950" y="2638425"/>
            <a:ext cx="247638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Roboto"/>
              </a:rPr>
              <a:t>WebDriver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2350" y="3286125"/>
            <a:ext cx="293358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66666"/>
                </a:solidFill>
                <a:latin typeface="Roboto"/>
              </a:rPr>
              <a:t>Điều khiển &amp; chờ đợi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4660" y="2638425"/>
            <a:ext cx="247638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Roboto"/>
              </a:rPr>
              <a:t>Chrome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060" y="3286125"/>
            <a:ext cx="293358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66666"/>
                </a:solidFill>
                <a:latin typeface="Roboto"/>
              </a:rPr>
              <a:t>Thao tác trên website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8370" y="2638425"/>
            <a:ext cx="247638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Roboto"/>
              </a:rPr>
              <a:t>Assertion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9770" y="3286125"/>
            <a:ext cx="293358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66666"/>
                </a:solidFill>
                <a:latin typeface="Roboto"/>
              </a:rPr>
              <a:t>So sánh &amp; kỳ vọng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9A3F1A8-7A90-94E6-3EF6-13C0E2BC9C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3558" y="158491"/>
            <a:ext cx="1800000" cy="510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381125"/>
            <a:ext cx="6724650" cy="3810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95475"/>
            <a:ext cx="333375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712" y="1895475"/>
            <a:ext cx="3048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287" y="1895475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762000"/>
            <a:ext cx="8826103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A1A1A"/>
                </a:solidFill>
                <a:latin typeface="Roboto"/>
              </a:rPr>
              <a:t>Công cụ, phương thức và locator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876425"/>
            <a:ext cx="3981747" cy="314325"/>
          </a:xfrm>
          <a:prstGeom prst="rect">
            <a:avLst/>
          </a:prstGeom>
          <a:noFill/>
        </p:spPr>
        <p:txBody>
          <a:bodyPr wrap="none" lIns="333375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60000"/>
                </a:solidFill>
                <a:latin typeface="Roboto"/>
              </a:rPr>
              <a:t>Lệnh Chờ (Waits)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6712" y="1876425"/>
            <a:ext cx="5038129" cy="314325"/>
          </a:xfrm>
          <a:prstGeom prst="rect">
            <a:avLst/>
          </a:prstGeom>
          <a:noFill/>
        </p:spPr>
        <p:txBody>
          <a:bodyPr wrap="none" lIns="3048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60000"/>
                </a:solidFill>
                <a:latin typeface="Roboto"/>
              </a:rPr>
              <a:t>Expected 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6287" y="1876425"/>
            <a:ext cx="3795712" cy="3143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60000"/>
                </a:solidFill>
                <a:latin typeface="Roboto"/>
              </a:rPr>
              <a:t>Xử lý Ngoại lệ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19350"/>
            <a:ext cx="3792140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 i="0" u="none">
                <a:solidFill>
                  <a:srgbClr val="000000"/>
                </a:solidFill>
                <a:latin typeface="Fira Code"/>
              </a:rPr>
              <a:t>driver.implicitly_wait()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796480"/>
            <a:ext cx="3792140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 i="0" u="none">
                <a:solidFill>
                  <a:srgbClr val="000000"/>
                </a:solidFill>
                <a:latin typeface="Fira Code"/>
              </a:rPr>
              <a:t>WebDriverWait(...)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173610"/>
            <a:ext cx="3792140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 i="0" u="none">
                <a:solidFill>
                  <a:srgbClr val="000000"/>
                </a:solidFill>
                <a:latin typeface="Fira Code"/>
              </a:rPr>
              <a:t>wait.until(điều_kiện)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6712" y="2419350"/>
            <a:ext cx="4798218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 i="0" u="none">
                <a:solidFill>
                  <a:srgbClr val="000000"/>
                </a:solidFill>
                <a:latin typeface="Fira Code"/>
              </a:rPr>
              <a:t>visibility_of_element_located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6712" y="2796480"/>
            <a:ext cx="4798218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 i="0" u="none">
                <a:solidFill>
                  <a:srgbClr val="000000"/>
                </a:solidFill>
                <a:latin typeface="Fira Code"/>
              </a:rPr>
              <a:t>presence_of_element_located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6712" y="3173610"/>
            <a:ext cx="4798218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 i="0" u="none">
                <a:solidFill>
                  <a:srgbClr val="000000"/>
                </a:solidFill>
                <a:latin typeface="Fira Code"/>
              </a:rPr>
              <a:t>invisibility_of_element_located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6287" y="2419350"/>
            <a:ext cx="3792140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 i="0" u="none">
                <a:solidFill>
                  <a:srgbClr val="000000"/>
                </a:solidFill>
                <a:latin typeface="Fira Code"/>
              </a:rPr>
              <a:t>TimeoutException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6287" y="2796480"/>
            <a:ext cx="3792140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 i="0" u="none">
                <a:solidFill>
                  <a:srgbClr val="000000"/>
                </a:solidFill>
                <a:latin typeface="Fira Code"/>
              </a:rPr>
              <a:t>pytest.raises(...)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6287" y="3326010"/>
            <a:ext cx="3792140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 i="0" u="none">
                <a:solidFill>
                  <a:srgbClr val="000000"/>
                </a:solidFill>
                <a:latin typeface="Roboto"/>
              </a:rPr>
              <a:t>(Đảm bảo fail test đúng dự tính)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931353D-4607-F694-6CC0-B2987F63D0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3558" y="158491"/>
            <a:ext cx="1800000" cy="510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381125"/>
            <a:ext cx="6429375" cy="3810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1724025"/>
            <a:ext cx="5486400" cy="2529631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0" y="1724025"/>
            <a:ext cx="76200" cy="2529631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8438554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A1A1A"/>
                </a:solidFill>
                <a:latin typeface="Roboto"/>
              </a:rPr>
              <a:t>2 Test trên /dynamic_loading/2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724025"/>
            <a:ext cx="630078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33333"/>
                </a:solidFill>
                <a:latin typeface="Roboto"/>
              </a:rPr>
              <a:t>Kịch bản: Chờ ngầm định &amp; Xuất hiện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2028825"/>
            <a:ext cx="4895850" cy="1920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88888"/>
                </a:solidFill>
                <a:latin typeface="Fira Code"/>
              </a:rPr>
              <a:t># Thiết lập chờ ngầm định 10s</a:t>
            </a:r>
            <a:r>
              <a:rPr sz="1350" b="0" i="0" u="none">
                <a:solidFill>
                  <a:srgbClr val="FFFFFF"/>
                </a:solidFill>
                <a:latin typeface="Fira Code"/>
              </a:rPr>
              <a:t> driver.implicitly_wait(10) driver.find_element( By.CSS_SELECTOR, "#start button" ).click() </a:t>
            </a:r>
            <a:r>
              <a:rPr sz="1350" b="0" i="0" u="none">
                <a:solidFill>
                  <a:srgbClr val="888888"/>
                </a:solidFill>
                <a:latin typeface="Fira Code"/>
              </a:rPr>
              <a:t># Tìm kiếm tự động chờ max 10s</a:t>
            </a:r>
            <a:r>
              <a:rPr sz="1350" b="0" i="0" u="none">
                <a:solidFill>
                  <a:srgbClr val="FFFFFF"/>
                </a:solidFill>
                <a:latin typeface="Fira Code"/>
              </a:rPr>
              <a:t> finish_text = driver.find_element( By.ID, "finish") assert "Hello World!" in finish_text.text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191702"/>
            <a:ext cx="6667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555555"/>
                </a:solidFill>
                <a:latin typeface="Robo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190750"/>
            <a:ext cx="5715000" cy="3351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Roboto"/>
              </a:rPr>
              <a:t>Hành động:</a:t>
            </a:r>
            <a:r>
              <a:rPr sz="1650" b="0" i="0" u="none">
                <a:solidFill>
                  <a:srgbClr val="555555"/>
                </a:solidFill>
                <a:latin typeface="Roboto"/>
              </a:rPr>
              <a:t> Click Start.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526863"/>
            <a:ext cx="6667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555555"/>
                </a:solidFill>
                <a:latin typeface="Robo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525910"/>
            <a:ext cx="5715000" cy="3351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Roboto"/>
              </a:rPr>
              <a:t>Implicit Wait:</a:t>
            </a:r>
            <a:r>
              <a:rPr sz="1650" b="0" i="0" u="none">
                <a:solidFill>
                  <a:srgbClr val="555555"/>
                </a:solidFill>
                <a:latin typeface="Roboto"/>
              </a:rPr>
              <a:t> Chờ ngầm định toàn cục tối đa 10s.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2862024"/>
            <a:ext cx="6667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555555"/>
                </a:solidFill>
                <a:latin typeface="Robo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2861071"/>
            <a:ext cx="4667250" cy="670321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Roboto"/>
              </a:rPr>
              <a:t>Presence:</a:t>
            </a:r>
            <a:r>
              <a:rPr sz="1650" b="0" i="0" u="none">
                <a:solidFill>
                  <a:srgbClr val="555555"/>
                </a:solidFill>
                <a:latin typeface="Roboto"/>
              </a:rPr>
              <a:t> Test chờ element được chèn vào HTML DOM sau đó.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F7F297-9F5C-A181-241F-AE448EE42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558" y="158491"/>
            <a:ext cx="1800000" cy="510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381125"/>
            <a:ext cx="6429375" cy="3810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24550" y="1724025"/>
            <a:ext cx="5505450" cy="335250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24550" y="1724025"/>
            <a:ext cx="76200" cy="3352502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8438554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A1A1A"/>
                </a:solidFill>
                <a:latin typeface="Roboto"/>
              </a:rPr>
              <a:t>2 Test trên /dynamic_loading/1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724025"/>
            <a:ext cx="6275784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33333"/>
                </a:solidFill>
                <a:latin typeface="Roboto"/>
              </a:rPr>
              <a:t>Kịch bản: Ẩn/Hiện &amp; Ngoại lệ Timeout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2028825"/>
            <a:ext cx="4914900" cy="2742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Fira Code"/>
              </a:rPr>
              <a:t>wait = WebDriverWait(driver, 10) </a:t>
            </a:r>
            <a:r>
              <a:rPr sz="1350" b="0" i="0" u="none">
                <a:solidFill>
                  <a:srgbClr val="888888"/>
                </a:solidFill>
                <a:latin typeface="Fira Code"/>
              </a:rPr>
              <a:t># Chờ loading ẩn &amp; text hiện</a:t>
            </a:r>
            <a:r>
              <a:rPr sz="1350" b="0" i="0" u="none">
                <a:solidFill>
                  <a:srgbClr val="FFFFFF"/>
                </a:solidFill>
                <a:latin typeface="Fira Code"/>
              </a:rPr>
              <a:t> wait.until(EC.invisibility_of_element_located( (By.ID, "loading"))) wait.until(EC.visibility_of_element_located( (By.ID, "finish"))) </a:t>
            </a:r>
            <a:r>
              <a:rPr sz="1350" b="0" i="0" u="none">
                <a:solidFill>
                  <a:srgbClr val="888888"/>
                </a:solidFill>
                <a:latin typeface="Fira Code"/>
              </a:rPr>
              <a:t># Test ngoại lệ Timeout (ép thời gian 1s)</a:t>
            </a:r>
            <a:r>
              <a:rPr sz="1350" b="0" i="0" u="none">
                <a:solidFill>
                  <a:srgbClr val="FFFFFF"/>
                </a:solidFill>
                <a:latin typeface="Fira Code"/>
              </a:rPr>
              <a:t> with pytest.raises(TimeoutException): WebDriverWait(driver, 1).until( EC.visibility_of_element_located(...)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191702"/>
            <a:ext cx="6667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555555"/>
                </a:solidFill>
                <a:latin typeface="Robo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190750"/>
            <a:ext cx="5691187" cy="3351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Roboto"/>
              </a:rPr>
              <a:t>Invisibility:</a:t>
            </a:r>
            <a:r>
              <a:rPr sz="1650" b="0" i="0" u="none">
                <a:solidFill>
                  <a:srgbClr val="555555"/>
                </a:solidFill>
                <a:latin typeface="Roboto"/>
              </a:rPr>
              <a:t> Chờ loading bar ẩn đi.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526863"/>
            <a:ext cx="6667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555555"/>
                </a:solidFill>
                <a:latin typeface="Robo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525910"/>
            <a:ext cx="5691187" cy="3351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Roboto"/>
              </a:rPr>
              <a:t>Visibility:</a:t>
            </a:r>
            <a:r>
              <a:rPr sz="1650" b="0" i="0" u="none">
                <a:solidFill>
                  <a:srgbClr val="555555"/>
                </a:solidFill>
                <a:latin typeface="Roboto"/>
              </a:rPr>
              <a:t> Chờ text chuyển trạng thái hiển thị.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2862024"/>
            <a:ext cx="6667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555555"/>
                </a:solidFill>
                <a:latin typeface="Robo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2861071"/>
            <a:ext cx="4648200" cy="670321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Roboto"/>
              </a:rPr>
              <a:t>TimeoutException:</a:t>
            </a:r>
            <a:r>
              <a:rPr sz="1650" b="0" i="0" u="none">
                <a:solidFill>
                  <a:srgbClr val="555555"/>
                </a:solidFill>
                <a:latin typeface="Roboto"/>
              </a:rPr>
              <a:t> Cố tình set thời gian quá ngắn để test logic văng lỗi đúng.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94735B-4D37-6E3C-3075-AC48C99ED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558" y="158491"/>
            <a:ext cx="1800000" cy="510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738312" y="2309812"/>
            <a:ext cx="8715375" cy="809625"/>
          </a:xfrm>
          <a:prstGeom prst="roundRect">
            <a:avLst>
              <a:gd name="adj" fmla="val 9411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76425" y="3576637"/>
            <a:ext cx="4029075" cy="1828800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86500" y="3576637"/>
            <a:ext cx="4029075" cy="1828800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76425" y="3576637"/>
            <a:ext cx="4029075" cy="3810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86500" y="3576637"/>
            <a:ext cx="4029075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3929062"/>
            <a:ext cx="1714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3929062"/>
            <a:ext cx="20002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-285750" y="1452562"/>
            <a:ext cx="12763500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1A1A1A"/>
                </a:solidFill>
                <a:latin typeface="Roboto"/>
              </a:rPr>
              <a:t>Demo thực thi &amp; đọc kết quả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490" y="2538412"/>
            <a:ext cx="10437018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FFFFF"/>
                </a:solidFill>
                <a:latin typeface="Roboto"/>
              </a:rPr>
              <a:t>python -m pytest -v week-07/test_dynamic_loading.py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1225" y="3919537"/>
            <a:ext cx="4488060" cy="26670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60000"/>
                </a:solidFill>
                <a:latin typeface="Roboto"/>
              </a:rPr>
              <a:t>Trước khi chạy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1225" y="4338637"/>
            <a:ext cx="42743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Roboto"/>
              </a:rPr>
              <a:t>• Cài đặt Selenium và pytest.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1225" y="4643437"/>
            <a:ext cx="42743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Roboto"/>
              </a:rPr>
              <a:t>• Có kết nối đến trang The Internet.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3919537"/>
            <a:ext cx="4488060" cy="266700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6A34A"/>
                </a:solidFill>
                <a:latin typeface="Roboto"/>
              </a:rPr>
              <a:t>Sau khi chạy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4338637"/>
            <a:ext cx="35147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Roboto"/>
              </a:rPr>
              <a:t>• Check thông báo Passed/Failed từ Terminal.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4872037"/>
            <a:ext cx="42743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Roboto"/>
              </a:rPr>
              <a:t>• Ghi nhận các Assert thành công.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EB51F02-2F9B-41DD-0A44-8DD9A22B6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558" y="158491"/>
            <a:ext cx="1800000" cy="510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592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Fira Code</vt:lpstr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A51823 PHAN THÀNH NAM</cp:lastModifiedBy>
  <cp:revision>2</cp:revision>
  <dcterms:created xsi:type="dcterms:W3CDTF">2013-01-27T09:14:16Z</dcterms:created>
  <dcterms:modified xsi:type="dcterms:W3CDTF">2026-10-27T15:08:07Z</dcterms:modified>
  <cp:category/>
</cp:coreProperties>
</file>