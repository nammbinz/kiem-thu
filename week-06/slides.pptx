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47472"/>
            <a:ext cx="91440" cy="393192"/>
          </a:xfrm>
          <a:prstGeom prst="rect">
            <a:avLst/>
          </a:prstGeom>
          <a:solidFill>
            <a:srgbClr val="37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058400" cy="458587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7D5B5"/>
                </a:solidFill>
                <a:latin typeface="Aptos"/>
              </a:defRPr>
            </a:pPr>
            <a:r>
              <a:rPr sz="2500" dirty="0"/>
              <a:t>SELENIUM</a:t>
            </a:r>
            <a:r>
              <a:rPr sz="2000" dirty="0"/>
              <a:t> WEBDRIVER  /  BÁO CÁO CHỨC NĂNG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04672"/>
            <a:ext cx="11064240" cy="766364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5F8FB"/>
                </a:solidFill>
                <a:latin typeface="Aptos"/>
              </a:defRPr>
            </a:pPr>
            <a:r>
              <a:rPr sz="4500" dirty="0" err="1"/>
              <a:t>Nhập</a:t>
            </a:r>
            <a:r>
              <a:rPr sz="4500" dirty="0"/>
              <a:t> </a:t>
            </a:r>
            <a:r>
              <a:rPr sz="4500" dirty="0" err="1"/>
              <a:t>liệu</a:t>
            </a:r>
            <a:r>
              <a:rPr sz="4500" dirty="0"/>
              <a:t> &amp; </a:t>
            </a:r>
            <a:r>
              <a:rPr sz="4500" dirty="0" err="1"/>
              <a:t>phím</a:t>
            </a:r>
            <a:r>
              <a:rPr sz="4500" dirty="0"/>
              <a:t> </a:t>
            </a:r>
            <a:r>
              <a:rPr sz="4500" dirty="0" err="1"/>
              <a:t>đặc</a:t>
            </a:r>
            <a:r>
              <a:rPr sz="4500" dirty="0"/>
              <a:t> </a:t>
            </a:r>
            <a:r>
              <a:rPr sz="4500" dirty="0" err="1"/>
              <a:t>biệt</a:t>
            </a:r>
            <a:endParaRPr sz="4500"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37D5B5"/>
                </a:solidFill>
                <a:latin typeface="Aptos"/>
              </a:defRPr>
            </a:pPr>
            <a:r>
              <a:rPr dirty="0"/>
              <a:t>THE INTERNET  •  /</a:t>
            </a:r>
            <a:r>
              <a:rPr dirty="0" err="1"/>
              <a:t>key_presses</a:t>
            </a:r>
            <a:r>
              <a:rPr dirty="0"/>
              <a:t>  +  /inputs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058400" cy="1188720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2900" b="0">
                <a:solidFill>
                  <a:srgbClr val="F5F8FB"/>
                </a:solidFill>
                <a:latin typeface="Aptos"/>
              </a:defRPr>
            </a:pP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kế</a:t>
            </a:r>
            <a:r>
              <a:rPr dirty="0"/>
              <a:t> 5 ca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thử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Python, Selenium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unittest</a:t>
            </a:r>
            <a:r>
              <a:rPr dirty="0"/>
              <a:t>;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thi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pytest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9966960" cy="822960"/>
          </a:xfrm>
          <a:prstGeom prst="roundRect">
            <a:avLst/>
          </a:prstGeom>
          <a:solidFill>
            <a:srgbClr val="1D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5010912"/>
            <a:ext cx="9692640" cy="381643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5F8FB"/>
                </a:solidFill>
                <a:latin typeface="Aptos"/>
              </a:defRPr>
            </a:pPr>
            <a:r>
              <a:rPr dirty="0"/>
              <a:t>NHÓM </a:t>
            </a:r>
            <a:r>
              <a:rPr lang="en-US" dirty="0"/>
              <a:t>N0</a:t>
            </a:r>
            <a:r>
              <a:rPr dirty="0"/>
              <a:t>1     |     NAM </a:t>
            </a:r>
            <a:r>
              <a:rPr lang="en-US" dirty="0"/>
              <a:t>–</a:t>
            </a:r>
            <a:r>
              <a:rPr dirty="0"/>
              <a:t> TRUNG</a:t>
            </a:r>
            <a:r>
              <a:rPr lang="en-US" dirty="0"/>
              <a:t> – XUÂN</a:t>
            </a:r>
            <a:r>
              <a:rPr dirty="0"/>
              <a:t>     |     NHÁNH week-06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943D53B-36E3-2A3C-43A8-3EC981981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6240" y="347472"/>
            <a:ext cx="1260000" cy="3573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47472"/>
            <a:ext cx="91440" cy="393192"/>
          </a:xfrm>
          <a:prstGeom prst="rect">
            <a:avLst/>
          </a:prstGeom>
          <a:solidFill>
            <a:srgbClr val="37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3988"/>
            <a:ext cx="11064240" cy="65836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5F8FB"/>
                </a:solidFill>
                <a:latin typeface="Aptos"/>
              </a:defRPr>
            </a:pPr>
            <a:r>
              <a:rPr dirty="0" err="1"/>
              <a:t>Phạm</a:t>
            </a:r>
            <a:r>
              <a:rPr dirty="0"/>
              <a:t> vi </a:t>
            </a:r>
            <a:r>
              <a:rPr dirty="0" err="1"/>
              <a:t>nhiệm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bảng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công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58368" y="1091381"/>
            <a:ext cx="5349240" cy="5507379"/>
          </a:xfrm>
          <a:prstGeom prst="roundRect">
            <a:avLst/>
          </a:prstGeom>
          <a:solidFill>
            <a:srgbClr val="1D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309951"/>
            <a:ext cx="4983479" cy="458587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7D5B5"/>
                </a:solidFill>
                <a:latin typeface="Aptos"/>
              </a:defRPr>
            </a:pPr>
            <a:r>
              <a:rPr sz="2500" dirty="0"/>
              <a:t>/</a:t>
            </a:r>
            <a:r>
              <a:rPr sz="2500" dirty="0" err="1"/>
              <a:t>key_presses</a:t>
            </a:r>
            <a:endParaRPr sz="2500" dirty="0"/>
          </a:p>
        </p:txBody>
      </p:sp>
      <p:sp>
        <p:nvSpPr>
          <p:cNvPr id="8" name="TextBox 7"/>
          <p:cNvSpPr txBox="1"/>
          <p:nvPr/>
        </p:nvSpPr>
        <p:spPr>
          <a:xfrm>
            <a:off x="841247" y="1831158"/>
            <a:ext cx="4983479" cy="1817934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100" b="0">
                <a:solidFill>
                  <a:srgbClr val="F5F8FB"/>
                </a:solidFill>
                <a:latin typeface="Aptos"/>
              </a:defRPr>
            </a:pPr>
            <a:r>
              <a:rPr sz="2500" dirty="0" err="1"/>
              <a:t>Gửi</a:t>
            </a:r>
            <a:r>
              <a:rPr sz="2500" dirty="0"/>
              <a:t> </a:t>
            </a:r>
            <a:r>
              <a:rPr sz="2500" dirty="0" err="1"/>
              <a:t>phím</a:t>
            </a:r>
            <a:r>
              <a:rPr sz="2500" dirty="0"/>
              <a:t> </a:t>
            </a:r>
            <a:r>
              <a:rPr sz="2500" dirty="0" err="1"/>
              <a:t>đặc</a:t>
            </a:r>
            <a:r>
              <a:rPr sz="2500" dirty="0"/>
              <a:t> </a:t>
            </a:r>
            <a:r>
              <a:rPr sz="2500" dirty="0" err="1"/>
              <a:t>biệt</a:t>
            </a:r>
            <a:r>
              <a:rPr sz="2500" dirty="0"/>
              <a:t> </a:t>
            </a:r>
            <a:r>
              <a:rPr sz="2500" dirty="0" err="1"/>
              <a:t>tới</a:t>
            </a:r>
            <a:r>
              <a:rPr sz="2500" dirty="0"/>
              <a:t> ô </a:t>
            </a:r>
            <a:r>
              <a:rPr sz="2500" dirty="0" err="1"/>
              <a:t>nhập</a:t>
            </a:r>
            <a:r>
              <a:rPr lang="en-US" sz="2500" dirty="0"/>
              <a:t>.</a:t>
            </a:r>
            <a:endParaRPr sz="2500" dirty="0"/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100" b="0">
                <a:solidFill>
                  <a:srgbClr val="F5F8FB"/>
                </a:solidFill>
                <a:latin typeface="Aptos"/>
              </a:defRPr>
            </a:pPr>
            <a:r>
              <a:rPr sz="2500" dirty="0" err="1"/>
              <a:t>Đọc</a:t>
            </a:r>
            <a:r>
              <a:rPr sz="2500" dirty="0"/>
              <a:t> </a:t>
            </a:r>
            <a:r>
              <a:rPr sz="2500" dirty="0" err="1"/>
              <a:t>thông</a:t>
            </a:r>
            <a:r>
              <a:rPr sz="2500" dirty="0"/>
              <a:t> </a:t>
            </a:r>
            <a:r>
              <a:rPr sz="2500" dirty="0" err="1"/>
              <a:t>báo</a:t>
            </a:r>
            <a:r>
              <a:rPr sz="2500" dirty="0"/>
              <a:t> </a:t>
            </a:r>
            <a:r>
              <a:rPr sz="2500" dirty="0" err="1"/>
              <a:t>từ</a:t>
            </a:r>
            <a:r>
              <a:rPr sz="2500" dirty="0"/>
              <a:t> #result.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100" b="0">
                <a:solidFill>
                  <a:srgbClr val="F5F8FB"/>
                </a:solidFill>
                <a:latin typeface="Aptos"/>
              </a:defRPr>
            </a:pPr>
            <a:r>
              <a:rPr sz="2500" dirty="0" err="1"/>
              <a:t>Kiểm</a:t>
            </a:r>
            <a:r>
              <a:rPr sz="2500" dirty="0"/>
              <a:t> </a:t>
            </a:r>
            <a:r>
              <a:rPr sz="2500" dirty="0" err="1"/>
              <a:t>tra</a:t>
            </a:r>
            <a:r>
              <a:rPr sz="2500" dirty="0"/>
              <a:t> ENTER, TAB </a:t>
            </a:r>
            <a:r>
              <a:rPr sz="2500" dirty="0" err="1"/>
              <a:t>và</a:t>
            </a:r>
            <a:r>
              <a:rPr sz="2500" dirty="0"/>
              <a:t> ARROW_UP.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091381"/>
            <a:ext cx="5330952" cy="5507379"/>
          </a:xfrm>
          <a:prstGeom prst="roundRect">
            <a:avLst/>
          </a:prstGeom>
          <a:solidFill>
            <a:srgbClr val="1D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309951"/>
            <a:ext cx="4965192" cy="458587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7D5B5"/>
                </a:solidFill>
                <a:latin typeface="Aptos"/>
              </a:defRPr>
            </a:pPr>
            <a:r>
              <a:rPr sz="2500" dirty="0"/>
              <a:t>/inputs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31158"/>
            <a:ext cx="4965192" cy="1433213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100" b="0">
                <a:solidFill>
                  <a:srgbClr val="F5F8FB"/>
                </a:solidFill>
                <a:latin typeface="Aptos"/>
              </a:defRPr>
            </a:pPr>
            <a:r>
              <a:rPr sz="2500" dirty="0" err="1"/>
              <a:t>Nhập</a:t>
            </a:r>
            <a:r>
              <a:rPr sz="2500" dirty="0"/>
              <a:t> </a:t>
            </a:r>
            <a:r>
              <a:rPr sz="2500" dirty="0" err="1"/>
              <a:t>và</a:t>
            </a:r>
            <a:r>
              <a:rPr sz="2500" dirty="0"/>
              <a:t> </a:t>
            </a:r>
            <a:r>
              <a:rPr sz="2500" dirty="0" err="1"/>
              <a:t>xóa</a:t>
            </a:r>
            <a:r>
              <a:rPr sz="2500" dirty="0"/>
              <a:t> </a:t>
            </a:r>
            <a:r>
              <a:rPr sz="2500" dirty="0" err="1"/>
              <a:t>giá</a:t>
            </a:r>
            <a:r>
              <a:rPr sz="2500" dirty="0"/>
              <a:t> </a:t>
            </a:r>
            <a:r>
              <a:rPr sz="2500" dirty="0" err="1"/>
              <a:t>trị</a:t>
            </a:r>
            <a:r>
              <a:rPr sz="2500" dirty="0"/>
              <a:t> </a:t>
            </a:r>
            <a:r>
              <a:rPr sz="2500" dirty="0" err="1"/>
              <a:t>số</a:t>
            </a:r>
            <a:r>
              <a:rPr sz="2500" dirty="0"/>
              <a:t>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100" b="0">
                <a:solidFill>
                  <a:srgbClr val="F5F8FB"/>
                </a:solidFill>
                <a:latin typeface="Aptos"/>
              </a:defRPr>
            </a:pPr>
            <a:r>
              <a:rPr sz="2500" dirty="0" err="1"/>
              <a:t>Đọc</a:t>
            </a:r>
            <a:r>
              <a:rPr sz="2500" dirty="0"/>
              <a:t> </a:t>
            </a:r>
            <a:r>
              <a:rPr sz="2500" dirty="0" err="1"/>
              <a:t>thuộc</a:t>
            </a:r>
            <a:r>
              <a:rPr sz="2500" dirty="0"/>
              <a:t> </a:t>
            </a:r>
            <a:r>
              <a:rPr sz="2500" dirty="0" err="1"/>
              <a:t>tính</a:t>
            </a:r>
            <a:r>
              <a:rPr sz="2500" dirty="0"/>
              <a:t> value </a:t>
            </a:r>
            <a:r>
              <a:rPr sz="2500" dirty="0" err="1"/>
              <a:t>của</a:t>
            </a:r>
            <a:r>
              <a:rPr sz="2500" dirty="0"/>
              <a:t> input.</a:t>
            </a:r>
          </a:p>
          <a:p>
            <a:pPr marL="342900" indent="-342900">
              <a:spcAft>
                <a:spcPts val="800"/>
              </a:spcAft>
              <a:buFont typeface="Arial" panose="020B0604020202020204" pitchFamily="34" charset="0"/>
              <a:buChar char="•"/>
              <a:defRPr sz="2100" b="0">
                <a:solidFill>
                  <a:srgbClr val="F5F8FB"/>
                </a:solidFill>
                <a:latin typeface="Aptos"/>
              </a:defRPr>
            </a:pPr>
            <a:r>
              <a:rPr sz="2500" dirty="0" err="1"/>
              <a:t>Kiểm</a:t>
            </a:r>
            <a:r>
              <a:rPr sz="2500" dirty="0"/>
              <a:t> </a:t>
            </a:r>
            <a:r>
              <a:rPr sz="2500" dirty="0" err="1"/>
              <a:t>tra</a:t>
            </a:r>
            <a:r>
              <a:rPr sz="2500" dirty="0"/>
              <a:t> ARROW_UP </a:t>
            </a:r>
            <a:r>
              <a:rPr sz="2500" dirty="0" err="1"/>
              <a:t>tăng</a:t>
            </a:r>
            <a:r>
              <a:rPr sz="2500" dirty="0"/>
              <a:t> </a:t>
            </a:r>
            <a:r>
              <a:rPr sz="2500" dirty="0" err="1"/>
              <a:t>giá</a:t>
            </a:r>
            <a:r>
              <a:rPr sz="2500" dirty="0"/>
              <a:t> </a:t>
            </a:r>
            <a:r>
              <a:rPr sz="2500" dirty="0" err="1"/>
              <a:t>trị</a:t>
            </a:r>
            <a:r>
              <a:rPr sz="2500" dirty="0"/>
              <a:t>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1A68F64-9BB9-2EB9-F925-2D3E51D19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986" y="3699652"/>
            <a:ext cx="4320000" cy="259699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3F105F1-8BED-FC91-4D8E-F0B474E26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108" y="3699652"/>
            <a:ext cx="4320000" cy="26189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853853-385B-9964-C403-EDA1098E1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6240" y="347472"/>
            <a:ext cx="1260000" cy="3573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47472"/>
            <a:ext cx="91440" cy="393192"/>
          </a:xfrm>
          <a:prstGeom prst="rect">
            <a:avLst/>
          </a:prstGeom>
          <a:solidFill>
            <a:srgbClr val="37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3726"/>
            <a:ext cx="11064240" cy="65836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5F8FB"/>
                </a:solidFill>
                <a:latin typeface="Aptos"/>
              </a:defRPr>
            </a:pPr>
            <a:r>
              <a:rPr dirty="0" err="1"/>
              <a:t>Kiến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thử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luồng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thi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03504" y="2148840"/>
            <a:ext cx="2651760" cy="2011680"/>
          </a:xfrm>
          <a:prstGeom prst="roundRect">
            <a:avLst/>
          </a:prstGeom>
          <a:solidFill>
            <a:srgbClr val="1D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8988" y="2343226"/>
            <a:ext cx="2889504" cy="458587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7D5B5"/>
                </a:solidFill>
                <a:latin typeface="Aptos"/>
              </a:defRPr>
            </a:pPr>
            <a:r>
              <a:rPr sz="2500" dirty="0"/>
              <a:t>Python /</a:t>
            </a:r>
            <a:r>
              <a:rPr lang="en-US" sz="2500" dirty="0"/>
              <a:t> </a:t>
            </a:r>
            <a:r>
              <a:rPr sz="2500" dirty="0" err="1"/>
              <a:t>unittest</a:t>
            </a:r>
            <a:endParaRPr sz="2500" dirty="0"/>
          </a:p>
        </p:txBody>
      </p:sp>
      <p:sp>
        <p:nvSpPr>
          <p:cNvPr id="8" name="TextBox 7"/>
          <p:cNvSpPr txBox="1"/>
          <p:nvPr/>
        </p:nvSpPr>
        <p:spPr>
          <a:xfrm>
            <a:off x="801724" y="3073271"/>
            <a:ext cx="2423160" cy="8433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5F8FB"/>
                </a:solidFill>
                <a:latin typeface="Aptos"/>
              </a:defRPr>
            </a:pPr>
            <a:r>
              <a:rPr sz="2500" dirty="0" err="1"/>
              <a:t>Khai</a:t>
            </a:r>
            <a:r>
              <a:rPr sz="2500" dirty="0"/>
              <a:t> </a:t>
            </a:r>
            <a:r>
              <a:rPr sz="2500" dirty="0" err="1"/>
              <a:t>báo</a:t>
            </a:r>
            <a:r>
              <a:rPr sz="2500" dirty="0"/>
              <a:t> ca </a:t>
            </a:r>
            <a:r>
              <a:rPr sz="2500" dirty="0" err="1"/>
              <a:t>kiểm</a:t>
            </a:r>
            <a:r>
              <a:rPr sz="2500" dirty="0"/>
              <a:t> </a:t>
            </a:r>
            <a:r>
              <a:rPr sz="2500" dirty="0" err="1"/>
              <a:t>thử</a:t>
            </a:r>
            <a:endParaRPr sz="2500" dirty="0"/>
          </a:p>
        </p:txBody>
      </p:sp>
      <p:sp>
        <p:nvSpPr>
          <p:cNvPr id="9" name="TextBox 8"/>
          <p:cNvSpPr txBox="1"/>
          <p:nvPr/>
        </p:nvSpPr>
        <p:spPr>
          <a:xfrm>
            <a:off x="3218688" y="2852928"/>
            <a:ext cx="320040" cy="43891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C36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2148840"/>
            <a:ext cx="2651760" cy="2011680"/>
          </a:xfrm>
          <a:prstGeom prst="roundRect">
            <a:avLst/>
          </a:prstGeom>
          <a:solidFill>
            <a:srgbClr val="1D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55255" y="2195745"/>
            <a:ext cx="2660904" cy="8433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37D5B5"/>
                </a:solidFill>
                <a:latin typeface="Aptos"/>
              </a:defRPr>
            </a:pPr>
            <a:r>
              <a:rPr sz="2500" dirty="0"/>
              <a:t>Selenium WebDriver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1228" y="3073271"/>
            <a:ext cx="2423160" cy="8433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5F8FB"/>
                </a:solidFill>
                <a:latin typeface="Aptos"/>
              </a:defRPr>
            </a:pPr>
            <a:r>
              <a:rPr sz="2500" dirty="0" err="1"/>
              <a:t>Gửi</a:t>
            </a:r>
            <a:r>
              <a:rPr sz="2500" dirty="0"/>
              <a:t> </a:t>
            </a:r>
            <a:r>
              <a:rPr sz="2500" dirty="0" err="1"/>
              <a:t>lệnh</a:t>
            </a:r>
            <a:r>
              <a:rPr sz="2500" dirty="0"/>
              <a:t> </a:t>
            </a:r>
            <a:r>
              <a:rPr sz="2500" dirty="0" err="1"/>
              <a:t>tự</a:t>
            </a:r>
            <a:r>
              <a:rPr sz="2500" dirty="0"/>
              <a:t> </a:t>
            </a:r>
            <a:r>
              <a:rPr sz="2500" dirty="0" err="1"/>
              <a:t>động</a:t>
            </a:r>
            <a:endParaRPr sz="2500" dirty="0"/>
          </a:p>
        </p:txBody>
      </p:sp>
      <p:sp>
        <p:nvSpPr>
          <p:cNvPr id="13" name="TextBox 12"/>
          <p:cNvSpPr txBox="1"/>
          <p:nvPr/>
        </p:nvSpPr>
        <p:spPr>
          <a:xfrm>
            <a:off x="6108192" y="2852928"/>
            <a:ext cx="320040" cy="43891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C36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2148840"/>
            <a:ext cx="2651760" cy="2011680"/>
          </a:xfrm>
          <a:prstGeom prst="roundRect">
            <a:avLst/>
          </a:prstGeom>
          <a:solidFill>
            <a:srgbClr val="1D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343226"/>
            <a:ext cx="2423160" cy="458587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37D5B5"/>
                </a:solidFill>
                <a:latin typeface="Aptos"/>
              </a:defRPr>
            </a:pPr>
            <a:r>
              <a:rPr sz="2500" dirty="0" err="1"/>
              <a:t>ChromeDriver</a:t>
            </a:r>
            <a:endParaRPr sz="2500" dirty="0"/>
          </a:p>
        </p:txBody>
      </p:sp>
      <p:sp>
        <p:nvSpPr>
          <p:cNvPr id="16" name="TextBox 15"/>
          <p:cNvSpPr txBox="1"/>
          <p:nvPr/>
        </p:nvSpPr>
        <p:spPr>
          <a:xfrm>
            <a:off x="6580732" y="3073271"/>
            <a:ext cx="2423160" cy="8433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5F8FB"/>
                </a:solidFill>
                <a:latin typeface="Aptos"/>
              </a:defRPr>
            </a:pPr>
            <a:r>
              <a:rPr sz="2500" dirty="0"/>
              <a:t>Thao </a:t>
            </a:r>
            <a:r>
              <a:rPr sz="2500" dirty="0" err="1"/>
              <a:t>tác</a:t>
            </a:r>
            <a:r>
              <a:rPr sz="2500" dirty="0"/>
              <a:t> </a:t>
            </a:r>
            <a:r>
              <a:rPr sz="2500" dirty="0" err="1"/>
              <a:t>trên</a:t>
            </a:r>
            <a:r>
              <a:rPr sz="2500" dirty="0"/>
              <a:t> website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852928"/>
            <a:ext cx="320040" cy="438912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C36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72016" y="2148840"/>
            <a:ext cx="2651760" cy="2011680"/>
          </a:xfrm>
          <a:prstGeom prst="roundRect">
            <a:avLst/>
          </a:prstGeom>
          <a:solidFill>
            <a:srgbClr val="1D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81744" y="2343226"/>
            <a:ext cx="2423160" cy="458587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37D5B5"/>
                </a:solidFill>
                <a:latin typeface="Aptos"/>
              </a:defRPr>
            </a:pPr>
            <a:r>
              <a:rPr sz="2500" dirty="0"/>
              <a:t>Assertion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0236" y="3073271"/>
            <a:ext cx="2423160" cy="84330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5F8FB"/>
                </a:solidFill>
                <a:latin typeface="Aptos"/>
              </a:defRPr>
            </a:pPr>
            <a:r>
              <a:rPr sz="2500" dirty="0"/>
              <a:t>So </a:t>
            </a:r>
            <a:r>
              <a:rPr sz="2500" dirty="0" err="1"/>
              <a:t>sánh</a:t>
            </a:r>
            <a:r>
              <a:rPr sz="2500" dirty="0"/>
              <a:t> </a:t>
            </a:r>
            <a:r>
              <a:rPr sz="2500" dirty="0" err="1"/>
              <a:t>thực</a:t>
            </a:r>
            <a:r>
              <a:rPr sz="2500" dirty="0"/>
              <a:t> </a:t>
            </a:r>
            <a:r>
              <a:rPr sz="2500" dirty="0" err="1"/>
              <a:t>tế</a:t>
            </a:r>
            <a:r>
              <a:rPr sz="2500" dirty="0"/>
              <a:t> &amp; </a:t>
            </a:r>
            <a:r>
              <a:rPr sz="2500" dirty="0" err="1"/>
              <a:t>kỳ</a:t>
            </a:r>
            <a:r>
              <a:rPr sz="2500" dirty="0"/>
              <a:t> </a:t>
            </a:r>
            <a:r>
              <a:rPr sz="2500" dirty="0" err="1"/>
              <a:t>vọng</a:t>
            </a:r>
            <a:endParaRPr sz="2500" dirty="0"/>
          </a:p>
        </p:txBody>
      </p:sp>
      <p:sp>
        <p:nvSpPr>
          <p:cNvPr id="21" name="TextBox 20"/>
          <p:cNvSpPr txBox="1"/>
          <p:nvPr/>
        </p:nvSpPr>
        <p:spPr>
          <a:xfrm>
            <a:off x="1097280" y="4875228"/>
            <a:ext cx="10149840" cy="997196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F5F8FB"/>
                </a:solidFill>
                <a:latin typeface="Aptos"/>
              </a:defRPr>
            </a:pPr>
            <a:r>
              <a:rPr sz="3000" dirty="0" err="1"/>
              <a:t>setUp</a:t>
            </a:r>
            <a:r>
              <a:rPr sz="3000" dirty="0"/>
              <a:t>()  →  </a:t>
            </a:r>
            <a:r>
              <a:rPr sz="3000" dirty="0" err="1"/>
              <a:t>driver.get</a:t>
            </a:r>
            <a:r>
              <a:rPr sz="3000" dirty="0"/>
              <a:t>()  →  </a:t>
            </a:r>
            <a:r>
              <a:rPr sz="3000" dirty="0" err="1"/>
              <a:t>find_element</a:t>
            </a:r>
            <a:r>
              <a:rPr sz="3000" dirty="0"/>
              <a:t>()  </a:t>
            </a:r>
            <a:br>
              <a:rPr lang="en-US" sz="3000" dirty="0"/>
            </a:br>
            <a:r>
              <a:rPr sz="3000" dirty="0"/>
              <a:t>→  </a:t>
            </a:r>
            <a:r>
              <a:rPr sz="3000" dirty="0" err="1"/>
              <a:t>send_keys</a:t>
            </a:r>
            <a:r>
              <a:rPr sz="3000" dirty="0"/>
              <a:t>()  →  assert  →  </a:t>
            </a:r>
            <a:r>
              <a:rPr sz="3000" dirty="0" err="1"/>
              <a:t>tearDown</a:t>
            </a:r>
            <a:r>
              <a:rPr sz="3000" dirty="0"/>
              <a:t>()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65E09F-9038-1E45-F819-CD9C38838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6240" y="347472"/>
            <a:ext cx="1260000" cy="3573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47472"/>
            <a:ext cx="91440" cy="393192"/>
          </a:xfrm>
          <a:prstGeom prst="rect">
            <a:avLst/>
          </a:prstGeom>
          <a:solidFill>
            <a:srgbClr val="37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73727"/>
            <a:ext cx="11064240" cy="65836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5F8FB"/>
                </a:solidFill>
                <a:latin typeface="Aptos"/>
              </a:defRPr>
            </a:pP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cụ</a:t>
            </a:r>
            <a:r>
              <a:rPr dirty="0"/>
              <a:t>, </a:t>
            </a:r>
            <a:r>
              <a:rPr dirty="0" err="1"/>
              <a:t>phương</a:t>
            </a:r>
            <a:r>
              <a:rPr dirty="0"/>
              <a:t> </a:t>
            </a:r>
            <a:r>
              <a:rPr dirty="0" err="1"/>
              <a:t>thức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locator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882"/>
            <a:ext cx="5394960" cy="4357263"/>
          </a:xfrm>
          <a:prstGeom prst="roundRect">
            <a:avLst/>
          </a:prstGeom>
          <a:solidFill>
            <a:srgbClr val="1D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37670"/>
            <a:ext cx="5029200" cy="535531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7D5B5"/>
                </a:solidFill>
                <a:latin typeface="Aptos"/>
              </a:defRPr>
            </a:pPr>
            <a:r>
              <a:rPr sz="3000" dirty="0"/>
              <a:t>Selenium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58878"/>
            <a:ext cx="5029200" cy="307468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marL="342900" indent="-342900">
              <a:spcAft>
                <a:spcPts val="800"/>
              </a:spcAft>
              <a:buFont typeface="Symbol" panose="05050102010706020507" pitchFamily="18" charset="2"/>
              <a:buChar char=""/>
              <a:defRPr sz="1900" b="0">
                <a:solidFill>
                  <a:srgbClr val="F5F8FB"/>
                </a:solidFill>
                <a:latin typeface="Aptos"/>
              </a:defRPr>
            </a:pPr>
            <a:r>
              <a:rPr sz="2500" dirty="0"/>
              <a:t>get(</a:t>
            </a:r>
            <a:r>
              <a:rPr sz="2500" dirty="0" err="1"/>
              <a:t>url</a:t>
            </a:r>
            <a:r>
              <a:rPr sz="2500" dirty="0"/>
              <a:t>)</a:t>
            </a:r>
            <a:br>
              <a:rPr lang="en-US" sz="2500" dirty="0"/>
            </a:br>
            <a:r>
              <a:rPr sz="2500" dirty="0" err="1"/>
              <a:t>find_element</a:t>
            </a:r>
            <a:r>
              <a:rPr sz="2500" dirty="0"/>
              <a:t>(...)</a:t>
            </a:r>
          </a:p>
          <a:p>
            <a:pPr marL="342900" indent="-342900">
              <a:spcAft>
                <a:spcPts val="800"/>
              </a:spcAft>
              <a:buFont typeface="Symbol" panose="05050102010706020507" pitchFamily="18" charset="2"/>
              <a:buChar char=""/>
              <a:defRPr sz="1900" b="0">
                <a:solidFill>
                  <a:srgbClr val="F5F8FB"/>
                </a:solidFill>
                <a:latin typeface="Aptos"/>
              </a:defRPr>
            </a:pPr>
            <a:r>
              <a:rPr sz="2500" dirty="0"/>
              <a:t>By.ID</a:t>
            </a:r>
            <a:br>
              <a:rPr lang="en-US" sz="2500" dirty="0"/>
            </a:br>
            <a:r>
              <a:rPr sz="2500" dirty="0" err="1"/>
              <a:t>By.CSS_SELECTOR</a:t>
            </a:r>
            <a:endParaRPr sz="2500" dirty="0"/>
          </a:p>
          <a:p>
            <a:pPr marL="342900" indent="-342900">
              <a:spcAft>
                <a:spcPts val="800"/>
              </a:spcAft>
              <a:buFont typeface="Symbol" panose="05050102010706020507" pitchFamily="18" charset="2"/>
              <a:buChar char=""/>
              <a:defRPr sz="1900" b="0">
                <a:solidFill>
                  <a:srgbClr val="F5F8FB"/>
                </a:solidFill>
                <a:latin typeface="Aptos"/>
              </a:defRPr>
            </a:pPr>
            <a:r>
              <a:rPr sz="2500" dirty="0" err="1"/>
              <a:t>send_keys</a:t>
            </a:r>
            <a:r>
              <a:rPr lang="en-US" sz="2500" dirty="0"/>
              <a:t>(...)</a:t>
            </a:r>
            <a:br>
              <a:rPr lang="en-US" sz="2500" dirty="0"/>
            </a:br>
            <a:r>
              <a:rPr sz="2500" dirty="0"/>
              <a:t>clear()</a:t>
            </a:r>
          </a:p>
          <a:p>
            <a:pPr marL="342900" indent="-342900">
              <a:spcAft>
                <a:spcPts val="800"/>
              </a:spcAft>
              <a:buFont typeface="Symbol" panose="05050102010706020507" pitchFamily="18" charset="2"/>
              <a:buChar char=""/>
              <a:defRPr sz="1900" b="0">
                <a:solidFill>
                  <a:srgbClr val="F5F8FB"/>
                </a:solidFill>
                <a:latin typeface="Aptos"/>
              </a:defRPr>
            </a:pPr>
            <a:r>
              <a:rPr sz="2500" dirty="0" err="1"/>
              <a:t>Keys.ENTER</a:t>
            </a:r>
            <a:r>
              <a:rPr sz="2500" dirty="0"/>
              <a:t> / TAB / ARROW_UP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912" y="1143882"/>
            <a:ext cx="5394960" cy="4357263"/>
          </a:xfrm>
          <a:prstGeom prst="roundRect">
            <a:avLst/>
          </a:prstGeom>
          <a:solidFill>
            <a:srgbClr val="1D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1437670"/>
            <a:ext cx="5029200" cy="535531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7D5B5"/>
                </a:solidFill>
                <a:latin typeface="Aptos"/>
              </a:defRPr>
            </a:pPr>
            <a:r>
              <a:rPr sz="3000" dirty="0" err="1"/>
              <a:t>Kiểm</a:t>
            </a:r>
            <a:r>
              <a:rPr sz="3000" dirty="0"/>
              <a:t> </a:t>
            </a:r>
            <a:r>
              <a:rPr sz="3000" dirty="0" err="1"/>
              <a:t>tra</a:t>
            </a:r>
            <a:r>
              <a:rPr sz="3000" dirty="0"/>
              <a:t> </a:t>
            </a:r>
            <a:r>
              <a:rPr sz="3000" dirty="0" err="1"/>
              <a:t>kết</a:t>
            </a:r>
            <a:r>
              <a:rPr sz="3000" dirty="0"/>
              <a:t> </a:t>
            </a:r>
            <a:r>
              <a:rPr sz="3000" dirty="0" err="1"/>
              <a:t>quả</a:t>
            </a:r>
            <a:endParaRPr sz="3000" dirty="0"/>
          </a:p>
        </p:txBody>
      </p:sp>
      <p:sp>
        <p:nvSpPr>
          <p:cNvPr id="11" name="TextBox 10"/>
          <p:cNvSpPr txBox="1"/>
          <p:nvPr/>
        </p:nvSpPr>
        <p:spPr>
          <a:xfrm>
            <a:off x="6336792" y="1958878"/>
            <a:ext cx="5029200" cy="2792559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marL="342900" indent="-342900">
              <a:spcAft>
                <a:spcPts val="800"/>
              </a:spcAft>
              <a:buFont typeface="Symbol" panose="05050102010706020507" pitchFamily="18" charset="2"/>
              <a:buChar char="-"/>
              <a:defRPr sz="1900" b="0">
                <a:solidFill>
                  <a:srgbClr val="F5F8FB"/>
                </a:solidFill>
                <a:latin typeface="Aptos"/>
              </a:defRPr>
            </a:pPr>
            <a:r>
              <a:rPr sz="2500" dirty="0" err="1"/>
              <a:t>get_attribute</a:t>
            </a:r>
            <a:r>
              <a:rPr sz="2500" dirty="0"/>
              <a:t>("value")</a:t>
            </a:r>
          </a:p>
          <a:p>
            <a:pPr marL="342900" indent="-342900">
              <a:spcAft>
                <a:spcPts val="800"/>
              </a:spcAft>
              <a:buFont typeface="Symbol" panose="05050102010706020507" pitchFamily="18" charset="2"/>
              <a:buChar char="-"/>
              <a:defRPr sz="1900" b="0">
                <a:solidFill>
                  <a:srgbClr val="F5F8FB"/>
                </a:solidFill>
                <a:latin typeface="Aptos"/>
              </a:defRPr>
            </a:pPr>
            <a:r>
              <a:rPr sz="2500" dirty="0"/>
              <a:t>.text</a:t>
            </a:r>
          </a:p>
          <a:p>
            <a:pPr marL="342900" indent="-342900">
              <a:spcAft>
                <a:spcPts val="800"/>
              </a:spcAft>
              <a:buFont typeface="Symbol" panose="05050102010706020507" pitchFamily="18" charset="2"/>
              <a:buChar char="-"/>
              <a:defRPr sz="1900" b="0">
                <a:solidFill>
                  <a:srgbClr val="F5F8FB"/>
                </a:solidFill>
                <a:latin typeface="Aptos"/>
              </a:defRPr>
            </a:pPr>
            <a:r>
              <a:rPr sz="2500" dirty="0" err="1"/>
              <a:t>unittest.TestCase</a:t>
            </a:r>
            <a:endParaRPr sz="2500" dirty="0"/>
          </a:p>
          <a:p>
            <a:pPr marL="342900" indent="-342900">
              <a:spcAft>
                <a:spcPts val="800"/>
              </a:spcAft>
              <a:buFont typeface="Symbol" panose="05050102010706020507" pitchFamily="18" charset="2"/>
              <a:buChar char="-"/>
              <a:defRPr sz="1900" b="0">
                <a:solidFill>
                  <a:srgbClr val="F5F8FB"/>
                </a:solidFill>
                <a:latin typeface="Aptos"/>
              </a:defRPr>
            </a:pPr>
            <a:r>
              <a:rPr sz="2500" dirty="0" err="1"/>
              <a:t>setUp</a:t>
            </a:r>
            <a:r>
              <a:rPr sz="2500" dirty="0"/>
              <a:t>()</a:t>
            </a:r>
            <a:br>
              <a:rPr lang="en-US" sz="2500" dirty="0"/>
            </a:br>
            <a:r>
              <a:rPr sz="2500" dirty="0" err="1"/>
              <a:t>tearDown</a:t>
            </a:r>
            <a:r>
              <a:rPr sz="2500" dirty="0"/>
              <a:t>()</a:t>
            </a:r>
          </a:p>
          <a:p>
            <a:pPr marL="342900" indent="-342900">
              <a:spcAft>
                <a:spcPts val="800"/>
              </a:spcAft>
              <a:buFont typeface="Symbol" panose="05050102010706020507" pitchFamily="18" charset="2"/>
              <a:buChar char="-"/>
              <a:defRPr sz="1900" b="0">
                <a:solidFill>
                  <a:srgbClr val="F5F8FB"/>
                </a:solidFill>
                <a:latin typeface="Aptos"/>
              </a:defRPr>
            </a:pPr>
            <a:r>
              <a:rPr sz="2500" dirty="0" err="1"/>
              <a:t>assertEqual</a:t>
            </a:r>
            <a:r>
              <a:rPr sz="2500" dirty="0"/>
              <a:t>(</a:t>
            </a:r>
            <a:r>
              <a:rPr sz="2500" dirty="0" err="1"/>
              <a:t>thực_tế</a:t>
            </a:r>
            <a:r>
              <a:rPr sz="2500" dirty="0"/>
              <a:t>, </a:t>
            </a:r>
            <a:r>
              <a:rPr sz="2500" dirty="0" err="1"/>
              <a:t>kỳ_vọng</a:t>
            </a:r>
            <a:r>
              <a:rPr sz="2500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8B127B-4A9E-FAAC-195C-E10C9EBD6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6240" y="347472"/>
            <a:ext cx="1260000" cy="3573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47472"/>
            <a:ext cx="91440" cy="393192"/>
          </a:xfrm>
          <a:prstGeom prst="rect">
            <a:avLst/>
          </a:prstGeom>
          <a:solidFill>
            <a:srgbClr val="37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88480"/>
            <a:ext cx="11064240" cy="65836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5F8FB"/>
                </a:solidFill>
                <a:latin typeface="Aptos"/>
              </a:defRPr>
            </a:pPr>
            <a:r>
              <a:rPr dirty="0"/>
              <a:t>3 test </a:t>
            </a:r>
            <a:r>
              <a:rPr dirty="0" err="1"/>
              <a:t>trên</a:t>
            </a:r>
            <a:r>
              <a:rPr dirty="0"/>
              <a:t> /</a:t>
            </a:r>
            <a:r>
              <a:rPr dirty="0" err="1"/>
              <a:t>key_presses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58368" y="1773936"/>
            <a:ext cx="5299980" cy="4007432"/>
          </a:xfrm>
          <a:prstGeom prst="roundRect">
            <a:avLst/>
          </a:prstGeom>
          <a:solidFill>
            <a:srgbClr val="1D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5456" y="1971319"/>
            <a:ext cx="4954869" cy="535531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37D5B5"/>
                </a:solidFill>
                <a:latin typeface="Aptos"/>
              </a:defRPr>
            </a:pPr>
            <a:r>
              <a:rPr sz="3000" dirty="0" err="1"/>
              <a:t>Kịch</a:t>
            </a:r>
            <a:r>
              <a:rPr sz="3000" dirty="0"/>
              <a:t> </a:t>
            </a:r>
            <a:r>
              <a:rPr sz="3000" dirty="0" err="1"/>
              <a:t>bản</a:t>
            </a:r>
            <a:endParaRPr sz="3000" dirty="0"/>
          </a:p>
        </p:txBody>
      </p:sp>
      <p:sp>
        <p:nvSpPr>
          <p:cNvPr id="8" name="TextBox 7"/>
          <p:cNvSpPr txBox="1"/>
          <p:nvPr/>
        </p:nvSpPr>
        <p:spPr>
          <a:xfrm>
            <a:off x="841247" y="2898651"/>
            <a:ext cx="6446520" cy="1433213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5F8FB"/>
                </a:solidFill>
                <a:latin typeface="Aptos"/>
              </a:defRPr>
            </a:pPr>
            <a:r>
              <a:rPr sz="2500" dirty="0"/>
              <a:t>01  ENTER → “You entered: ENTER”</a:t>
            </a:r>
          </a:p>
          <a:p>
            <a:pPr>
              <a:spcAft>
                <a:spcPts val="800"/>
              </a:spcAft>
              <a:defRPr sz="2100" b="0">
                <a:solidFill>
                  <a:srgbClr val="F5F8FB"/>
                </a:solidFill>
                <a:latin typeface="Aptos"/>
              </a:defRPr>
            </a:pPr>
            <a:r>
              <a:rPr sz="2500" dirty="0"/>
              <a:t>02  TAB       → “You entered: TAB”</a:t>
            </a:r>
          </a:p>
          <a:p>
            <a:pPr>
              <a:spcAft>
                <a:spcPts val="800"/>
              </a:spcAft>
              <a:defRPr sz="2100" b="0">
                <a:solidFill>
                  <a:srgbClr val="F5F8FB"/>
                </a:solidFill>
                <a:latin typeface="Aptos"/>
              </a:defRPr>
            </a:pPr>
            <a:r>
              <a:rPr sz="2500" dirty="0"/>
              <a:t>03  ARROW_UP → “You entered: UP”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655" y="1773936"/>
            <a:ext cx="5242064" cy="4007432"/>
          </a:xfrm>
          <a:prstGeom prst="roundRect">
            <a:avLst/>
          </a:prstGeom>
          <a:solidFill>
            <a:srgbClr val="1D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2829" y="1970976"/>
            <a:ext cx="4875227" cy="535531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37D5B5"/>
                </a:solidFill>
                <a:latin typeface="Aptos"/>
              </a:defRPr>
            </a:pPr>
            <a:r>
              <a:rPr sz="3000" dirty="0"/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5045" y="2615184"/>
            <a:ext cx="4875227" cy="3059299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5F8FB"/>
                </a:solidFill>
                <a:latin typeface="Consolas"/>
              </a:defRPr>
            </a:pPr>
            <a:r>
              <a:rPr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field = </a:t>
            </a:r>
            <a:r>
              <a:rPr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driver.find_element</a:t>
            </a:r>
            <a:r>
              <a:rPr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(</a:t>
            </a: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0000"/>
              </a:highlight>
            </a:endParaRPr>
          </a:p>
          <a:p>
            <a:pPr>
              <a:spcAft>
                <a:spcPts val="800"/>
              </a:spcAft>
              <a:defRPr sz="1400" b="0">
                <a:solidFill>
                  <a:srgbClr val="F5F8FB"/>
                </a:solidFill>
                <a:latin typeface="Consolas"/>
              </a:defRPr>
            </a:pP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    By.ID, "target")</a:t>
            </a:r>
          </a:p>
          <a:p>
            <a:pPr>
              <a:spcAft>
                <a:spcPts val="800"/>
              </a:spcAft>
              <a:defRPr sz="1400" b="0">
                <a:solidFill>
                  <a:srgbClr val="F5F8FB"/>
                </a:solidFill>
                <a:latin typeface="Consolas"/>
              </a:defRPr>
            </a:pPr>
            <a:r>
              <a:rPr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field.send_keys</a:t>
            </a:r>
            <a:r>
              <a:rPr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(</a:t>
            </a:r>
            <a:r>
              <a:rPr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Keys.ENTER</a:t>
            </a:r>
            <a:r>
              <a:rPr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)</a:t>
            </a:r>
          </a:p>
          <a:p>
            <a:pPr>
              <a:spcAft>
                <a:spcPts val="800"/>
              </a:spcAft>
              <a:defRPr sz="1400" b="0">
                <a:solidFill>
                  <a:srgbClr val="F5F8FB"/>
                </a:solidFill>
                <a:latin typeface="Consolas"/>
              </a:defRPr>
            </a:pPr>
            <a:r>
              <a:rPr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actual = </a:t>
            </a:r>
            <a:r>
              <a:rPr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driver.find_element</a:t>
            </a:r>
            <a:r>
              <a:rPr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(</a:t>
            </a:r>
          </a:p>
          <a:p>
            <a:pPr>
              <a:spcAft>
                <a:spcPts val="800"/>
              </a:spcAft>
              <a:defRPr sz="1400" b="0">
                <a:solidFill>
                  <a:srgbClr val="F5F8FB"/>
                </a:solidFill>
                <a:latin typeface="Consolas"/>
              </a:defRPr>
            </a:pPr>
            <a:r>
              <a:rPr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    By.ID, "result").text</a:t>
            </a:r>
          </a:p>
          <a:p>
            <a:pPr>
              <a:spcAft>
                <a:spcPts val="800"/>
              </a:spcAft>
              <a:defRPr sz="1400" b="0">
                <a:solidFill>
                  <a:srgbClr val="F5F8FB"/>
                </a:solidFill>
                <a:latin typeface="Consolas"/>
              </a:defRPr>
            </a:pPr>
            <a:r>
              <a:rPr sz="2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self.assertEqual</a:t>
            </a:r>
            <a:r>
              <a:rPr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(actual,</a:t>
            </a:r>
          </a:p>
          <a:p>
            <a:pPr>
              <a:spcAft>
                <a:spcPts val="800"/>
              </a:spcAft>
              <a:defRPr sz="1400" b="0">
                <a:solidFill>
                  <a:srgbClr val="F5F8FB"/>
                </a:solidFill>
                <a:latin typeface="Consolas"/>
              </a:defRPr>
            </a:pPr>
            <a:r>
              <a:rPr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    "You entered: ENTER")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86A557-FA1F-D130-E2F2-C4EF3FA83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6240" y="347472"/>
            <a:ext cx="1260000" cy="3573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47472"/>
            <a:ext cx="91440" cy="393192"/>
          </a:xfrm>
          <a:prstGeom prst="rect">
            <a:avLst/>
          </a:prstGeom>
          <a:solidFill>
            <a:srgbClr val="37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88485"/>
            <a:ext cx="11064240" cy="65836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5F8FB"/>
                </a:solidFill>
                <a:latin typeface="Aptos"/>
              </a:defRPr>
            </a:pPr>
            <a:r>
              <a:rPr dirty="0"/>
              <a:t>2 test </a:t>
            </a:r>
            <a:r>
              <a:rPr dirty="0" err="1"/>
              <a:t>trên</a:t>
            </a:r>
            <a:r>
              <a:rPr dirty="0"/>
              <a:t> /inputs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01987"/>
            <a:ext cx="5623560" cy="4641613"/>
          </a:xfrm>
          <a:prstGeom prst="roundRect">
            <a:avLst/>
          </a:prstGeom>
          <a:solidFill>
            <a:srgbClr val="1D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397475"/>
            <a:ext cx="5257800" cy="535531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37D5B5"/>
                </a:solidFill>
                <a:latin typeface="Aptos"/>
              </a:defRPr>
            </a:pPr>
            <a:r>
              <a:rPr sz="3000" dirty="0" err="1"/>
              <a:t>Kịch</a:t>
            </a:r>
            <a:r>
              <a:rPr sz="3000" dirty="0"/>
              <a:t> </a:t>
            </a:r>
            <a:r>
              <a:rPr sz="3000" dirty="0" err="1"/>
              <a:t>bản</a:t>
            </a:r>
            <a:endParaRPr sz="3000" dirty="0"/>
          </a:p>
        </p:txBody>
      </p:sp>
      <p:sp>
        <p:nvSpPr>
          <p:cNvPr id="8" name="TextBox 7"/>
          <p:cNvSpPr txBox="1"/>
          <p:nvPr/>
        </p:nvSpPr>
        <p:spPr>
          <a:xfrm>
            <a:off x="973981" y="2618425"/>
            <a:ext cx="5257800" cy="1920526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5F8FB"/>
                </a:solidFill>
                <a:latin typeface="Aptos"/>
              </a:defRPr>
            </a:pPr>
            <a:r>
              <a:rPr sz="2500" dirty="0"/>
              <a:t>04  </a:t>
            </a:r>
            <a:r>
              <a:rPr sz="2500" dirty="0" err="1"/>
              <a:t>Nhập</a:t>
            </a:r>
            <a:r>
              <a:rPr sz="2500" dirty="0"/>
              <a:t> </a:t>
            </a:r>
            <a:r>
              <a:rPr lang="en-US" sz="2500" dirty="0"/>
              <a:t>123</a:t>
            </a:r>
            <a:r>
              <a:rPr sz="2500" dirty="0"/>
              <a:t> → value = "</a:t>
            </a:r>
            <a:r>
              <a:rPr lang="en-US" sz="2500" dirty="0"/>
              <a:t>123</a:t>
            </a:r>
            <a:r>
              <a:rPr sz="2500" dirty="0"/>
              <a:t>"</a:t>
            </a:r>
          </a:p>
          <a:p>
            <a:pPr>
              <a:spcAft>
                <a:spcPts val="800"/>
              </a:spcAft>
              <a:defRPr sz="2000" b="0">
                <a:solidFill>
                  <a:srgbClr val="F5F8FB"/>
                </a:solidFill>
                <a:latin typeface="Aptos"/>
              </a:defRPr>
            </a:pPr>
            <a:r>
              <a:rPr sz="2500" dirty="0"/>
              <a:t>      clear() → value = ""</a:t>
            </a:r>
          </a:p>
          <a:p>
            <a:pPr>
              <a:spcAft>
                <a:spcPts val="800"/>
              </a:spcAft>
              <a:defRPr sz="2000" b="0">
                <a:solidFill>
                  <a:srgbClr val="F5F8FB"/>
                </a:solidFill>
                <a:latin typeface="Aptos"/>
              </a:defRPr>
            </a:pPr>
            <a:r>
              <a:rPr sz="2500" dirty="0"/>
              <a:t>05  </a:t>
            </a:r>
            <a:r>
              <a:rPr sz="2500" dirty="0" err="1"/>
              <a:t>Nhập</a:t>
            </a:r>
            <a:r>
              <a:rPr sz="2500" dirty="0"/>
              <a:t> </a:t>
            </a:r>
            <a:r>
              <a:rPr lang="en-US" sz="2500" dirty="0"/>
              <a:t>100</a:t>
            </a:r>
            <a:r>
              <a:rPr sz="2500" dirty="0"/>
              <a:t> → ARROW_UP</a:t>
            </a:r>
          </a:p>
          <a:p>
            <a:pPr>
              <a:spcAft>
                <a:spcPts val="800"/>
              </a:spcAft>
              <a:defRPr sz="2000" b="0">
                <a:solidFill>
                  <a:srgbClr val="F5F8FB"/>
                </a:solidFill>
                <a:latin typeface="Aptos"/>
              </a:defRPr>
            </a:pPr>
            <a:r>
              <a:rPr sz="2500" dirty="0"/>
              <a:t>      value = "</a:t>
            </a:r>
            <a:r>
              <a:rPr lang="en-US" sz="2500" dirty="0"/>
              <a:t>101</a:t>
            </a:r>
            <a:r>
              <a:rPr sz="2500" dirty="0"/>
              <a:t>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301987"/>
            <a:ext cx="5029200" cy="4641613"/>
          </a:xfrm>
          <a:prstGeom prst="roundRect">
            <a:avLst/>
          </a:prstGeom>
          <a:solidFill>
            <a:srgbClr val="1D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0" y="1397475"/>
            <a:ext cx="4206240" cy="535531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37D5B5"/>
                </a:solidFill>
                <a:latin typeface="Aptos"/>
              </a:defRPr>
            </a:pPr>
            <a:r>
              <a:rPr sz="3000" dirty="0"/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8087" y="2060352"/>
            <a:ext cx="4687633" cy="3562001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5F8FB"/>
                </a:solidFill>
                <a:latin typeface="Consolas"/>
              </a:defRPr>
            </a:pPr>
            <a:r>
              <a:rPr sz="2000" dirty="0">
                <a:highlight>
                  <a:srgbClr val="000000"/>
                </a:highlight>
              </a:rPr>
              <a:t>field = </a:t>
            </a:r>
            <a:r>
              <a:rPr sz="2000" dirty="0" err="1">
                <a:highlight>
                  <a:srgbClr val="000000"/>
                </a:highlight>
              </a:rPr>
              <a:t>driver.find_element</a:t>
            </a:r>
            <a:r>
              <a:rPr sz="2000" dirty="0">
                <a:highlight>
                  <a:srgbClr val="000000"/>
                </a:highlight>
              </a:rPr>
              <a:t>(</a:t>
            </a:r>
          </a:p>
          <a:p>
            <a:pPr>
              <a:spcAft>
                <a:spcPts val="800"/>
              </a:spcAft>
              <a:defRPr sz="1400" b="0">
                <a:solidFill>
                  <a:srgbClr val="F5F8FB"/>
                </a:solidFill>
                <a:latin typeface="Consolas"/>
              </a:defRPr>
            </a:pPr>
            <a:r>
              <a:rPr sz="2000" dirty="0">
                <a:highlight>
                  <a:srgbClr val="000000"/>
                </a:highlight>
              </a:rPr>
              <a:t>  </a:t>
            </a:r>
            <a:r>
              <a:rPr sz="2000" dirty="0" err="1">
                <a:highlight>
                  <a:srgbClr val="000000"/>
                </a:highlight>
              </a:rPr>
              <a:t>By.CSS_SELECTOR</a:t>
            </a:r>
            <a:r>
              <a:rPr sz="2000" dirty="0">
                <a:highlight>
                  <a:srgbClr val="000000"/>
                </a:highlight>
              </a:rPr>
              <a:t>,</a:t>
            </a:r>
          </a:p>
          <a:p>
            <a:pPr>
              <a:spcAft>
                <a:spcPts val="800"/>
              </a:spcAft>
              <a:defRPr sz="1400" b="0">
                <a:solidFill>
                  <a:srgbClr val="F5F8FB"/>
                </a:solidFill>
                <a:latin typeface="Consolas"/>
              </a:defRPr>
            </a:pPr>
            <a:r>
              <a:rPr sz="2000" dirty="0">
                <a:highlight>
                  <a:srgbClr val="000000"/>
                </a:highlight>
              </a:rPr>
              <a:t>  "input[type='number']")</a:t>
            </a:r>
          </a:p>
          <a:p>
            <a:pPr>
              <a:spcAft>
                <a:spcPts val="800"/>
              </a:spcAft>
              <a:defRPr sz="1400" b="0">
                <a:solidFill>
                  <a:srgbClr val="F5F8FB"/>
                </a:solidFill>
                <a:latin typeface="Consolas"/>
              </a:defRPr>
            </a:pPr>
            <a:r>
              <a:rPr sz="2000" dirty="0" err="1">
                <a:highlight>
                  <a:srgbClr val="000000"/>
                </a:highlight>
              </a:rPr>
              <a:t>field.clear</a:t>
            </a:r>
            <a:r>
              <a:rPr sz="2000" dirty="0">
                <a:highlight>
                  <a:srgbClr val="000000"/>
                </a:highlight>
              </a:rPr>
              <a:t>()</a:t>
            </a:r>
          </a:p>
          <a:p>
            <a:pPr>
              <a:spcAft>
                <a:spcPts val="800"/>
              </a:spcAft>
              <a:defRPr sz="1400" b="0">
                <a:solidFill>
                  <a:srgbClr val="F5F8FB"/>
                </a:solidFill>
                <a:latin typeface="Consolas"/>
              </a:defRPr>
            </a:pPr>
            <a:r>
              <a:rPr sz="2000" dirty="0" err="1">
                <a:highlight>
                  <a:srgbClr val="000000"/>
                </a:highlight>
              </a:rPr>
              <a:t>field.send_keys</a:t>
            </a:r>
            <a:r>
              <a:rPr sz="2000" dirty="0">
                <a:highlight>
                  <a:srgbClr val="000000"/>
                </a:highlight>
              </a:rPr>
              <a:t>("</a:t>
            </a:r>
            <a:r>
              <a:rPr lang="en-US" sz="2000" dirty="0">
                <a:highlight>
                  <a:srgbClr val="000000"/>
                </a:highlight>
              </a:rPr>
              <a:t>100</a:t>
            </a:r>
            <a:r>
              <a:rPr sz="2000" dirty="0">
                <a:highlight>
                  <a:srgbClr val="000000"/>
                </a:highlight>
              </a:rPr>
              <a:t>")</a:t>
            </a:r>
          </a:p>
          <a:p>
            <a:pPr>
              <a:spcAft>
                <a:spcPts val="800"/>
              </a:spcAft>
              <a:defRPr sz="1400" b="0">
                <a:solidFill>
                  <a:srgbClr val="F5F8FB"/>
                </a:solidFill>
                <a:latin typeface="Consolas"/>
              </a:defRPr>
            </a:pPr>
            <a:r>
              <a:rPr sz="2000" dirty="0" err="1">
                <a:highlight>
                  <a:srgbClr val="000000"/>
                </a:highlight>
              </a:rPr>
              <a:t>field.send_keys</a:t>
            </a:r>
            <a:r>
              <a:rPr sz="2000" dirty="0">
                <a:highlight>
                  <a:srgbClr val="000000"/>
                </a:highlight>
              </a:rPr>
              <a:t>(</a:t>
            </a:r>
            <a:r>
              <a:rPr sz="2000" dirty="0" err="1">
                <a:highlight>
                  <a:srgbClr val="000000"/>
                </a:highlight>
              </a:rPr>
              <a:t>Keys.ARROW_UP</a:t>
            </a:r>
            <a:r>
              <a:rPr sz="2000" dirty="0">
                <a:highlight>
                  <a:srgbClr val="000000"/>
                </a:highlight>
              </a:rPr>
              <a:t>)</a:t>
            </a:r>
          </a:p>
          <a:p>
            <a:pPr>
              <a:spcAft>
                <a:spcPts val="800"/>
              </a:spcAft>
              <a:defRPr sz="1400" b="0">
                <a:solidFill>
                  <a:srgbClr val="F5F8FB"/>
                </a:solidFill>
                <a:latin typeface="Consolas"/>
              </a:defRPr>
            </a:pPr>
            <a:r>
              <a:rPr sz="2000" dirty="0" err="1">
                <a:highlight>
                  <a:srgbClr val="000000"/>
                </a:highlight>
              </a:rPr>
              <a:t>self.assertEqual</a:t>
            </a:r>
            <a:r>
              <a:rPr sz="2000" dirty="0">
                <a:highlight>
                  <a:srgbClr val="000000"/>
                </a:highlight>
              </a:rPr>
              <a:t>(</a:t>
            </a:r>
          </a:p>
          <a:p>
            <a:pPr>
              <a:spcAft>
                <a:spcPts val="800"/>
              </a:spcAft>
              <a:defRPr sz="1400" b="0">
                <a:solidFill>
                  <a:srgbClr val="F5F8FB"/>
                </a:solidFill>
                <a:latin typeface="Consolas"/>
              </a:defRPr>
            </a:pPr>
            <a:r>
              <a:rPr lang="en-US" sz="2000" dirty="0">
                <a:highlight>
                  <a:srgbClr val="000000"/>
                </a:highlight>
              </a:rPr>
              <a:t>  </a:t>
            </a:r>
            <a:r>
              <a:rPr sz="2000" dirty="0" err="1">
                <a:highlight>
                  <a:srgbClr val="000000"/>
                </a:highlight>
              </a:rPr>
              <a:t>field.get_attribute</a:t>
            </a:r>
            <a:r>
              <a:rPr sz="2000" dirty="0">
                <a:highlight>
                  <a:srgbClr val="000000"/>
                </a:highlight>
              </a:rPr>
              <a:t>(</a:t>
            </a:r>
            <a:br>
              <a:rPr lang="en-US" sz="2000" dirty="0">
                <a:highlight>
                  <a:srgbClr val="000000"/>
                </a:highlight>
              </a:rPr>
            </a:br>
            <a:r>
              <a:rPr lang="en-US" sz="2000" dirty="0">
                <a:highlight>
                  <a:srgbClr val="000000"/>
                </a:highlight>
              </a:rPr>
              <a:t>    </a:t>
            </a:r>
            <a:r>
              <a:rPr sz="2000" dirty="0">
                <a:highlight>
                  <a:srgbClr val="000000"/>
                </a:highlight>
              </a:rPr>
              <a:t>"value"), "</a:t>
            </a:r>
            <a:r>
              <a:rPr lang="en-US" sz="2000" dirty="0">
                <a:highlight>
                  <a:srgbClr val="000000"/>
                </a:highlight>
              </a:rPr>
              <a:t>101</a:t>
            </a:r>
            <a:r>
              <a:rPr sz="2000" dirty="0">
                <a:highlight>
                  <a:srgbClr val="000000"/>
                </a:highlight>
              </a:rPr>
              <a:t>")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E0E62E-B16A-F4EF-8ABF-50DCC1A69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6240" y="347472"/>
            <a:ext cx="1260000" cy="3573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47472"/>
            <a:ext cx="91440" cy="393192"/>
          </a:xfrm>
          <a:prstGeom prst="rect">
            <a:avLst/>
          </a:prstGeom>
          <a:solidFill>
            <a:srgbClr val="37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88480"/>
            <a:ext cx="11064240" cy="658368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5F8FB"/>
                </a:solidFill>
                <a:latin typeface="Aptos"/>
              </a:defRPr>
            </a:pPr>
            <a:r>
              <a:rPr dirty="0"/>
              <a:t>Demo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thi</a:t>
            </a:r>
            <a:r>
              <a:rPr dirty="0"/>
              <a:t> &amp; </a:t>
            </a:r>
            <a:r>
              <a:rPr dirty="0" err="1"/>
              <a:t>đọc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85800" y="1519673"/>
            <a:ext cx="10863072" cy="1078992"/>
          </a:xfrm>
          <a:prstGeom prst="roundRect">
            <a:avLst/>
          </a:prstGeom>
          <a:solidFill>
            <a:srgbClr val="1D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6800" y="1791403"/>
            <a:ext cx="10058400" cy="535531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37D5B5"/>
                </a:solidFill>
                <a:latin typeface="Consolas"/>
              </a:defRPr>
            </a:pPr>
            <a:r>
              <a:rPr sz="3000" dirty="0"/>
              <a:t>python -m </a:t>
            </a:r>
            <a:r>
              <a:rPr sz="3000" dirty="0" err="1"/>
              <a:t>pytest</a:t>
            </a:r>
            <a:r>
              <a:rPr sz="3000" dirty="0"/>
              <a:t> -v week-06/test_input_keys.py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3023416"/>
            <a:ext cx="5239512" cy="2130552"/>
          </a:xfrm>
          <a:prstGeom prst="roundRect">
            <a:avLst/>
          </a:prstGeom>
          <a:solidFill>
            <a:srgbClr val="1D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6314" y="3331952"/>
            <a:ext cx="4873752" cy="458587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7D5B5"/>
                </a:solidFill>
                <a:latin typeface="Aptos"/>
              </a:defRPr>
            </a:pPr>
            <a:r>
              <a:rPr sz="2500" dirty="0" err="1"/>
              <a:t>Trước</a:t>
            </a:r>
            <a:r>
              <a:rPr sz="2500" dirty="0"/>
              <a:t> </a:t>
            </a:r>
            <a:r>
              <a:rPr sz="2500" dirty="0" err="1"/>
              <a:t>khi</a:t>
            </a:r>
            <a:r>
              <a:rPr sz="2500" dirty="0"/>
              <a:t> </a:t>
            </a:r>
            <a:r>
              <a:rPr sz="2500" dirty="0" err="1"/>
              <a:t>chạy</a:t>
            </a:r>
            <a:endParaRPr sz="2500" dirty="0"/>
          </a:p>
        </p:txBody>
      </p:sp>
      <p:sp>
        <p:nvSpPr>
          <p:cNvPr id="10" name="TextBox 9"/>
          <p:cNvSpPr txBox="1"/>
          <p:nvPr/>
        </p:nvSpPr>
        <p:spPr>
          <a:xfrm>
            <a:off x="966314" y="3853160"/>
            <a:ext cx="4873752" cy="853567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F8FB"/>
                </a:solidFill>
                <a:latin typeface="Aptos"/>
              </a:defRPr>
            </a:pPr>
            <a:r>
              <a:rPr sz="2200" dirty="0" err="1"/>
              <a:t>Cài</a:t>
            </a:r>
            <a:r>
              <a:rPr sz="2200" dirty="0"/>
              <a:t> Selenium, </a:t>
            </a:r>
            <a:r>
              <a:rPr sz="2200" dirty="0" err="1"/>
              <a:t>pytest</a:t>
            </a:r>
            <a:r>
              <a:rPr sz="2200" dirty="0"/>
              <a:t> </a:t>
            </a:r>
            <a:r>
              <a:rPr sz="2200" dirty="0" err="1"/>
              <a:t>và</a:t>
            </a:r>
            <a:r>
              <a:rPr sz="2200" dirty="0"/>
              <a:t> Chrome.</a:t>
            </a:r>
          </a:p>
          <a:p>
            <a:pPr>
              <a:spcAft>
                <a:spcPts val="800"/>
              </a:spcAft>
              <a:defRPr sz="1700" b="0">
                <a:solidFill>
                  <a:srgbClr val="F5F8FB"/>
                </a:solidFill>
                <a:latin typeface="Aptos"/>
              </a:defRPr>
            </a:pPr>
            <a:r>
              <a:rPr sz="2200" dirty="0" err="1"/>
              <a:t>Có</a:t>
            </a:r>
            <a:r>
              <a:rPr sz="2200" dirty="0"/>
              <a:t> </a:t>
            </a:r>
            <a:r>
              <a:rPr sz="2200" dirty="0" err="1"/>
              <a:t>kết</a:t>
            </a:r>
            <a:r>
              <a:rPr sz="2200" dirty="0"/>
              <a:t> </a:t>
            </a:r>
            <a:r>
              <a:rPr sz="2200" dirty="0" err="1"/>
              <a:t>nối</a:t>
            </a:r>
            <a:r>
              <a:rPr sz="2200" dirty="0"/>
              <a:t> </a:t>
            </a:r>
            <a:r>
              <a:rPr sz="2200" dirty="0" err="1"/>
              <a:t>đến</a:t>
            </a:r>
            <a:r>
              <a:rPr sz="2200" dirty="0"/>
              <a:t> </a:t>
            </a:r>
            <a:r>
              <a:rPr sz="2200" dirty="0" err="1"/>
              <a:t>trang</a:t>
            </a:r>
            <a:r>
              <a:rPr sz="2200" dirty="0"/>
              <a:t> </a:t>
            </a:r>
            <a:r>
              <a:rPr sz="2200" dirty="0" err="1"/>
              <a:t>thực</a:t>
            </a:r>
            <a:r>
              <a:rPr sz="2200" dirty="0"/>
              <a:t> </a:t>
            </a:r>
            <a:r>
              <a:rPr sz="2200" dirty="0" err="1"/>
              <a:t>hành</a:t>
            </a:r>
            <a:r>
              <a:rPr sz="2200"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023416"/>
            <a:ext cx="5394960" cy="2130552"/>
          </a:xfrm>
          <a:prstGeom prst="roundRect">
            <a:avLst/>
          </a:prstGeom>
          <a:solidFill>
            <a:srgbClr val="1D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97850" y="3331952"/>
            <a:ext cx="5029200" cy="458587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7D5B5"/>
                </a:solidFill>
                <a:latin typeface="Aptos"/>
              </a:defRPr>
            </a:pPr>
            <a:r>
              <a:rPr sz="2500" dirty="0"/>
              <a:t>Sau </a:t>
            </a:r>
            <a:r>
              <a:rPr sz="2500" dirty="0" err="1"/>
              <a:t>khi</a:t>
            </a:r>
            <a:r>
              <a:rPr sz="2500" dirty="0"/>
              <a:t> </a:t>
            </a:r>
            <a:r>
              <a:rPr sz="2500" dirty="0" err="1"/>
              <a:t>chạy</a:t>
            </a:r>
            <a:endParaRPr sz="2500" dirty="0"/>
          </a:p>
        </p:txBody>
      </p:sp>
      <p:sp>
        <p:nvSpPr>
          <p:cNvPr id="13" name="TextBox 12"/>
          <p:cNvSpPr txBox="1"/>
          <p:nvPr/>
        </p:nvSpPr>
        <p:spPr>
          <a:xfrm>
            <a:off x="6397850" y="3853160"/>
            <a:ext cx="5029200" cy="853567"/>
          </a:xfrm>
          <a:prstGeom prst="rect">
            <a:avLst/>
          </a:prstGeom>
          <a:noFill/>
        </p:spPr>
        <p:txBody>
          <a:bodyPr wrap="square" lIns="73152" tIns="27432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5F8FB"/>
                </a:solidFill>
                <a:latin typeface="Aptos"/>
              </a:defRPr>
            </a:pPr>
            <a:r>
              <a:rPr lang="en-US" sz="2200" dirty="0"/>
              <a:t>Check </a:t>
            </a:r>
            <a:r>
              <a:rPr sz="2200" dirty="0"/>
              <a:t>passed/failed.</a:t>
            </a:r>
          </a:p>
          <a:p>
            <a:pPr>
              <a:spcAft>
                <a:spcPts val="800"/>
              </a:spcAft>
              <a:defRPr sz="1700" b="0">
                <a:solidFill>
                  <a:srgbClr val="F5F8FB"/>
                </a:solidFill>
                <a:latin typeface="Aptos"/>
              </a:defRPr>
            </a:pPr>
            <a:endParaRPr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7240E0-CF76-C788-5D8F-5B4CC8066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6240" y="347472"/>
            <a:ext cx="1260000" cy="3573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496</Words>
  <Application>Microsoft Office PowerPoint</Application>
  <PresentationFormat>Widescreen</PresentationFormat>
  <Paragraphs>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A51823 PHAN THÀNH NAM</cp:lastModifiedBy>
  <cp:revision>3</cp:revision>
  <dcterms:created xsi:type="dcterms:W3CDTF">2013-01-27T09:14:16Z</dcterms:created>
  <dcterms:modified xsi:type="dcterms:W3CDTF">2026-10-21T00:19:44Z</dcterms:modified>
  <cp:category/>
</cp:coreProperties>
</file>